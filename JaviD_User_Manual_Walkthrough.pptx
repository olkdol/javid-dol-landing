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8B5CF6">
              <a:alpha val="8000"/>
            </a:srgbClr>
          </a:solidFill>
          <a:ln/>
        </p:spPr>
      </p:sp>
      <p:sp>
        <p:nvSpPr>
          <p:cNvPr id="3" name="Shape 1"/>
          <p:cNvSpPr/>
          <p:nvPr/>
        </p:nvSpPr>
        <p:spPr>
          <a:xfrm>
            <a:off x="-2286000" y="4754880"/>
            <a:ext cx="4572000" cy="4572000"/>
          </a:xfrm>
          <a:prstGeom prst="ellipse">
            <a:avLst/>
          </a:prstGeom>
          <a:solidFill>
            <a:srgbClr val="2DD4BF">
              <a:alpha val="6000"/>
            </a:srgbClr>
          </a:solidFill>
          <a:ln/>
        </p:spPr>
      </p:sp>
      <p:sp>
        <p:nvSpPr>
          <p:cNvPr id="4" name="Shape 2"/>
          <p:cNvSpPr/>
          <p:nvPr/>
        </p:nvSpPr>
        <p:spPr>
          <a:xfrm>
            <a:off x="822960" y="2468880"/>
            <a:ext cx="548640" cy="548640"/>
          </a:xfrm>
          <a:prstGeom prst="ellipse">
            <a:avLst/>
          </a:prstGeom>
          <a:solidFill>
            <a:srgbClr val="111823"/>
          </a:solidFill>
          <a:ln/>
        </p:spPr>
      </p:sp>
      <p:sp>
        <p:nvSpPr>
          <p:cNvPr id="5" name="Text 3"/>
          <p:cNvSpPr/>
          <p:nvPr/>
        </p:nvSpPr>
        <p:spPr>
          <a:xfrm>
            <a:off x="822960" y="2468880"/>
            <a:ext cx="548640" cy="54864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V18</a:t>
            </a:r>
            <a:endParaRPr lang="en-US" sz="1200" dirty="0"/>
          </a:p>
        </p:txBody>
      </p:sp>
      <p:sp>
        <p:nvSpPr>
          <p:cNvPr id="6" name="Text 4"/>
          <p:cNvSpPr/>
          <p:nvPr/>
        </p:nvSpPr>
        <p:spPr>
          <a:xfrm>
            <a:off x="1554480" y="2331720"/>
            <a:ext cx="8229600" cy="548640"/>
          </a:xfrm>
          <a:prstGeom prst="rect">
            <a:avLst/>
          </a:prstGeom>
          <a:noFill/>
          <a:ln/>
        </p:spPr>
        <p:txBody>
          <a:bodyPr wrap="square" lIns="0" tIns="0" rIns="0" bIns="0" rtlCol="0" anchor="ctr"/>
          <a:lstStyle/>
          <a:p>
            <a:pPr indent="0" marL="0">
              <a:buNone/>
            </a:pPr>
            <a:r>
              <a:rPr lang="en-US" sz="3000" b="1" dirty="0">
                <a:solidFill>
                  <a:srgbClr val="DBE4F0"/>
                </a:solidFill>
                <a:latin typeface="Calibri" pitchFamily="34" charset="0"/>
                <a:ea typeface="Calibri" pitchFamily="34" charset="-122"/>
                <a:cs typeface="Calibri" pitchFamily="34" charset="-120"/>
              </a:rPr>
              <a:t>JaviD Future Bot</a:t>
            </a:r>
            <a:endParaRPr lang="en-US" sz="3000" dirty="0"/>
          </a:p>
        </p:txBody>
      </p:sp>
      <p:sp>
        <p:nvSpPr>
          <p:cNvPr id="7" name="Text 5"/>
          <p:cNvSpPr/>
          <p:nvPr/>
        </p:nvSpPr>
        <p:spPr>
          <a:xfrm>
            <a:off x="1554480" y="2880360"/>
            <a:ext cx="8229600" cy="365760"/>
          </a:xfrm>
          <a:prstGeom prst="rect">
            <a:avLst/>
          </a:prstGeom>
          <a:noFill/>
          <a:ln/>
        </p:spPr>
        <p:txBody>
          <a:bodyPr wrap="square" lIns="0" tIns="0" rIns="0" bIns="0" rtlCol="0" anchor="ctr"/>
          <a:lstStyle/>
          <a:p>
            <a:pPr indent="0" marL="0">
              <a:buNone/>
            </a:pPr>
            <a:r>
              <a:rPr lang="en-US" sz="1300" b="1" spc="200" kern="0" dirty="0">
                <a:solidFill>
                  <a:srgbClr val="2DD4BF"/>
                </a:solidFill>
                <a:latin typeface="Calibri" pitchFamily="34" charset="0"/>
                <a:ea typeface="Calibri" pitchFamily="34" charset="-122"/>
                <a:cs typeface="Calibri" pitchFamily="34" charset="-120"/>
              </a:rPr>
              <a:t>USER MANUAL — WALKTHROUGH</a:t>
            </a:r>
            <a:endParaRPr lang="en-US" sz="1300" dirty="0"/>
          </a:p>
        </p:txBody>
      </p:sp>
      <p:sp>
        <p:nvSpPr>
          <p:cNvPr id="8" name="Text 6"/>
          <p:cNvSpPr/>
          <p:nvPr/>
        </p:nvSpPr>
        <p:spPr>
          <a:xfrm>
            <a:off x="1554480" y="3337560"/>
            <a:ext cx="8229600" cy="457200"/>
          </a:xfrm>
          <a:prstGeom prst="rect">
            <a:avLst/>
          </a:prstGeom>
          <a:noFill/>
          <a:ln/>
        </p:spPr>
        <p:txBody>
          <a:bodyPr wrap="square" lIns="0" tIns="0" rIns="0" bIns="0" rtlCol="0" anchor="ctr"/>
          <a:lstStyle/>
          <a:p>
            <a:pPr indent="0" marL="0">
              <a:buNone/>
            </a:pPr>
            <a:r>
              <a:rPr lang="en-US" sz="1350" dirty="0">
                <a:solidFill>
                  <a:srgbClr val="7D8AA0"/>
                </a:solidFill>
                <a:latin typeface="Calibri" pitchFamily="34" charset="0"/>
                <a:ea typeface="Calibri" pitchFamily="34" charset="-122"/>
                <a:cs typeface="Calibri" pitchFamily="34" charset="-120"/>
              </a:rPr>
              <a:t>9 real screens from the app, one page at a time — from first launch to live positions.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First Launch — Guided Onboarding</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1.png">    </p:cNvPr>
          <p:cNvPicPr>
            <a:picLocks noChangeAspect="1"/>
          </p:cNvPicPr>
          <p:nvPr/>
        </p:nvPicPr>
        <p:blipFill>
          <a:blip r:embed="rId1"/>
          <a:stretch>
            <a:fillRect/>
          </a:stretch>
        </p:blipFill>
        <p:spPr>
          <a:xfrm>
            <a:off x="3655119" y="914400"/>
            <a:ext cx="4851282" cy="443484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New users are walked through the 4-step setup flow the moment the app opens, plus a safety checklist (leverage, confirmation modal, one-bot-per-account) before they can ever go live.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Settings — Connect Your Binance API</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2.png">    </p:cNvPr>
          <p:cNvPicPr>
            <a:picLocks noChangeAspect="1"/>
          </p:cNvPicPr>
          <p:nvPr/>
        </p:nvPicPr>
        <p:blipFill>
          <a:blip r:embed="rId1"/>
          <a:stretch>
            <a:fillRect/>
          </a:stretch>
        </p:blipFill>
        <p:spPr>
          <a:xfrm>
            <a:off x="944101" y="914400"/>
            <a:ext cx="10273318" cy="443484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Paste your Access/Secret Key, hit Save, then Test Connection. Keys are encrypted and stored only on your PC — never transmitted anywhere else. You can track your overall setup progress at any time via the "Standard Trading Flow" guide bar at the top of the dashboard, which highlights exactly which step you're 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Dashboard — At a Glance</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3.png">    </p:cNvPr>
          <p:cNvPicPr>
            <a:picLocks noChangeAspect="1"/>
          </p:cNvPicPr>
          <p:nvPr/>
        </p:nvPicPr>
        <p:blipFill>
          <a:blip r:embed="rId1"/>
          <a:stretch>
            <a:fillRect/>
          </a:stretch>
        </p:blipFill>
        <p:spPr>
          <a:xfrm>
            <a:off x="904950" y="914400"/>
            <a:ext cx="10351619" cy="443484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Balance, cumulative P&amp;L, ROI and open positions in one view. Shown here idle, waiting for symbol selection and candle load before trading can start.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Investment Mode — Risk-Tiered Position Sizing</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4.png">    </p:cNvPr>
          <p:cNvPicPr>
            <a:picLocks noChangeAspect="1"/>
          </p:cNvPicPr>
          <p:nvPr/>
        </p:nvPicPr>
        <p:blipFill>
          <a:blip r:embed="rId1"/>
          <a:stretch>
            <a:fillRect/>
          </a:stretch>
        </p:blipFill>
        <p:spPr>
          <a:xfrm>
            <a:off x="457200" y="1584970"/>
            <a:ext cx="11247120" cy="309370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Aggressive (1/300), Normal (1/500) or Stable (1/700) — every entry is automatically sized as a fraction of the account balance, so risk scales to the trader's comfort level.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5</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Telegram Reports</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5.png">    </p:cNvPr>
          <p:cNvPicPr>
            <a:picLocks noChangeAspect="1"/>
          </p:cNvPicPr>
          <p:nvPr/>
        </p:nvPicPr>
        <p:blipFill>
          <a:blip r:embed="rId1"/>
          <a:stretch>
            <a:fillRect/>
          </a:stretch>
        </p:blipFill>
        <p:spPr>
          <a:xfrm>
            <a:off x="457200" y="1562968"/>
            <a:ext cx="11247120" cy="3137703"/>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Optional and notification-only: balance, equity, cumulative P&amp;L, ROI, win rate and open positions delivered to Telegram on demand or on an automatic schedule.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6</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Entry Mode &amp; Leverage Control</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6.png">    </p:cNvPr>
          <p:cNvPicPr>
            <a:picLocks noChangeAspect="1"/>
          </p:cNvPicPr>
          <p:nvPr/>
        </p:nvPicPr>
        <p:blipFill>
          <a:blip r:embed="rId1"/>
          <a:stretch>
            <a:fillRect/>
          </a:stretch>
        </p:blipFill>
        <p:spPr>
          <a:xfrm>
            <a:off x="457200" y="1101295"/>
            <a:ext cx="11247120" cy="4061051"/>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Choose Conservative (first-match-only) or Multi-strategy rotation, and set leverage from 3x to 15x — full control over how aggressively the bot trades.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7</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Symbol Selection — 500+ Pairs</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7.png">    </p:cNvPr>
          <p:cNvPicPr>
            <a:picLocks noChangeAspect="1"/>
          </p:cNvPicPr>
          <p:nvPr/>
        </p:nvPicPr>
        <p:blipFill>
          <a:blip r:embed="rId1"/>
          <a:stretch>
            <a:fillRect/>
          </a:stretch>
        </p:blipFill>
        <p:spPr>
          <a:xfrm>
            <a:off x="457200" y="1146676"/>
            <a:ext cx="11247120" cy="3970288"/>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Click Select All to select every listed pair (optionally narrow the list first with Volume Filter / Exclude Bottom 20), then click Save Selection to confirm and begin loading candle data.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8</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Shadow Mode — Live on the Dashboard</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8.png">    </p:cNvPr>
          <p:cNvPicPr>
            <a:picLocks noChangeAspect="1"/>
          </p:cNvPicPr>
          <p:nvPr/>
        </p:nvPicPr>
        <p:blipFill>
          <a:blip r:embed="rId1"/>
          <a:stretch>
            <a:fillRect/>
          </a:stretch>
        </p:blipFill>
        <p:spPr>
          <a:xfrm>
            <a:off x="856950" y="914400"/>
            <a:ext cx="10447619" cy="443484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Shadow Mode also uses the real exchange's live API, and trades run on virtual USDT — so the experience is nearly identical to trading with real money. Here it is actively managing 6 simulated positions with zero real orders placed.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2"/>
        </a:solidFill>
      </p:bgPr>
    </p:bg>
    <p:spTree>
      <p:nvGrpSpPr>
        <p:cNvPr id="1" name=""/>
        <p:cNvGrpSpPr/>
        <p:nvPr/>
      </p:nvGrpSpPr>
      <p:grpSpPr>
        <a:xfrm>
          <a:off x="0" y="0"/>
          <a:ext cx="0" cy="0"/>
          <a:chOff x="0" y="0"/>
          <a:chExt cx="0" cy="0"/>
        </a:xfrm>
      </p:grpSpPr>
      <p:sp>
        <p:nvSpPr>
          <p:cNvPr id="2" name="Shape 0"/>
          <p:cNvSpPr/>
          <p:nvPr/>
        </p:nvSpPr>
        <p:spPr>
          <a:xfrm>
            <a:off x="457200" y="320040"/>
            <a:ext cx="420624" cy="420624"/>
          </a:xfrm>
          <a:prstGeom prst="ellipse">
            <a:avLst/>
          </a:prstGeom>
          <a:solidFill>
            <a:srgbClr val="0E3B34"/>
          </a:solidFill>
          <a:ln/>
        </p:spPr>
      </p:sp>
      <p:sp>
        <p:nvSpPr>
          <p:cNvPr id="3" name="Text 1"/>
          <p:cNvSpPr/>
          <p:nvPr/>
        </p:nvSpPr>
        <p:spPr>
          <a:xfrm>
            <a:off x="457200" y="320040"/>
            <a:ext cx="420624" cy="42062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9</a:t>
            </a:r>
            <a:endParaRPr lang="en-US" sz="1400" dirty="0"/>
          </a:p>
        </p:txBody>
      </p:sp>
      <p:sp>
        <p:nvSpPr>
          <p:cNvPr id="4" name="Text 2"/>
          <p:cNvSpPr/>
          <p:nvPr/>
        </p:nvSpPr>
        <p:spPr>
          <a:xfrm>
            <a:off x="1005840" y="292608"/>
            <a:ext cx="10698480" cy="457200"/>
          </a:xfrm>
          <a:prstGeom prst="rect">
            <a:avLst/>
          </a:prstGeom>
          <a:noFill/>
          <a:ln/>
        </p:spPr>
        <p:txBody>
          <a:bodyPr wrap="square" lIns="0" tIns="0" rIns="0" bIns="0" rtlCol="0" anchor="ctr"/>
          <a:lstStyle/>
          <a:p>
            <a:pPr indent="0" marL="0">
              <a:buNone/>
            </a:pPr>
            <a:r>
              <a:rPr lang="en-US" sz="1900" b="1" dirty="0">
                <a:solidFill>
                  <a:srgbClr val="DBE4F0"/>
                </a:solidFill>
                <a:latin typeface="Calibri" pitchFamily="34" charset="0"/>
                <a:ea typeface="Calibri" pitchFamily="34" charset="-122"/>
                <a:cs typeface="Calibri" pitchFamily="34" charset="-120"/>
              </a:rPr>
              <a:t>Positions — Real-Time Tracking, Zero Risk</a:t>
            </a:r>
            <a:endParaRPr lang="en-US" sz="1900" dirty="0"/>
          </a:p>
        </p:txBody>
      </p:sp>
      <p:sp>
        <p:nvSpPr>
          <p:cNvPr id="5" name="Shape 3"/>
          <p:cNvSpPr/>
          <p:nvPr/>
        </p:nvSpPr>
        <p:spPr>
          <a:xfrm>
            <a:off x="457200" y="914400"/>
            <a:ext cx="11247120" cy="4434840"/>
          </a:xfrm>
          <a:prstGeom prst="rect">
            <a:avLst/>
          </a:prstGeom>
          <a:solidFill>
            <a:srgbClr val="05070A"/>
          </a:solidFill>
          <a:ln w="12700">
            <a:solidFill>
              <a:srgbClr val="1C2530"/>
            </a:solidFill>
            <a:prstDash val="solid"/>
          </a:ln>
        </p:spPr>
      </p:sp>
      <p:pic>
        <p:nvPicPr>
          <p:cNvPr id="6" name="Image 0" descr="shots/shot9.png">    </p:cNvPr>
          <p:cNvPicPr>
            <a:picLocks noChangeAspect="1"/>
          </p:cNvPicPr>
          <p:nvPr/>
        </p:nvPicPr>
        <p:blipFill>
          <a:blip r:embed="rId1"/>
          <a:stretch>
            <a:fillRect/>
          </a:stretch>
        </p:blipFill>
        <p:spPr>
          <a:xfrm>
            <a:off x="867878" y="914400"/>
            <a:ext cx="10425764" cy="4434840"/>
          </a:xfrm>
          <a:prstGeom prst="rect">
            <a:avLst/>
          </a:prstGeom>
        </p:spPr>
      </p:pic>
      <p:sp>
        <p:nvSpPr>
          <p:cNvPr id="7" name="Shape 4"/>
          <p:cNvSpPr/>
          <p:nvPr/>
        </p:nvSpPr>
        <p:spPr>
          <a:xfrm>
            <a:off x="457200" y="5486400"/>
            <a:ext cx="11247120" cy="1051560"/>
          </a:xfrm>
          <a:prstGeom prst="roundRect">
            <a:avLst>
              <a:gd name="adj" fmla="val 6957"/>
            </a:avLst>
          </a:prstGeom>
          <a:solidFill>
            <a:srgbClr val="111823"/>
          </a:solidFill>
          <a:ln w="12700">
            <a:solidFill>
              <a:srgbClr val="1C2530"/>
            </a:solidFill>
            <a:prstDash val="solid"/>
          </a:ln>
        </p:spPr>
      </p:sp>
      <p:sp>
        <p:nvSpPr>
          <p:cNvPr id="8" name="Text 5"/>
          <p:cNvSpPr/>
          <p:nvPr/>
        </p:nvSpPr>
        <p:spPr>
          <a:xfrm>
            <a:off x="731520" y="5486400"/>
            <a:ext cx="10698480" cy="1051560"/>
          </a:xfrm>
          <a:prstGeom prst="rect">
            <a:avLst/>
          </a:prstGeom>
          <a:noFill/>
          <a:ln/>
        </p:spPr>
        <p:txBody>
          <a:bodyPr wrap="square" lIns="0" tIns="0" rIns="0" bIns="0" rtlCol="0" anchor="ctr"/>
          <a:lstStyle/>
          <a:p>
            <a:pPr indent="0" marL="0">
              <a:lnSpc>
                <a:spcPct val="120000"/>
              </a:lnSpc>
              <a:buNone/>
            </a:pPr>
            <a:r>
              <a:rPr lang="en-US" sz="1250" dirty="0">
                <a:solidFill>
                  <a:srgbClr val="7D8AA0"/>
                </a:solidFill>
                <a:latin typeface="Calibri" pitchFamily="34" charset="0"/>
                <a:ea typeface="Calibri" pitchFamily="34" charset="-122"/>
                <a:cs typeface="Calibri" pitchFamily="34" charset="-120"/>
              </a:rPr>
              <a:t>Every simulated position shows live entry price, current price, PnL and ROE exactly as it would in live trading. Shadow Mode also uses the real exchange's live API, and trades run on virtual USDT, so it closely mirrors real trading without risking real funds.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JaviD Future Bot V18.0 - User Manual</dc:title>
  <dc:subject>PptxGenJS Presentation</dc:subject>
  <dc:creator>PptxGenJS</dc:creator>
  <cp:lastModifiedBy>PptxGenJS</cp:lastModifiedBy>
  <cp:revision>1</cp:revision>
  <dcterms:created xsi:type="dcterms:W3CDTF">2026-07-03T05:16:49Z</dcterms:created>
  <dcterms:modified xsi:type="dcterms:W3CDTF">2026-07-03T05:16:49Z</dcterms:modified>
</cp:coreProperties>
</file>