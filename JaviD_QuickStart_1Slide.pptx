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5029200"/>
            <a:ext cx="4572000" cy="4572000"/>
          </a:xfrm>
          <a:prstGeom prst="ellipse">
            <a:avLst/>
          </a:prstGeom>
          <a:solidFill>
            <a:srgbClr val="2DD4BF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11182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2926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B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JaviD Future Bot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 GUIDE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0" y="3840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7D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 from install to your first automated trade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2743200" cy="3246120"/>
          </a:xfrm>
          <a:prstGeom prst="roundRect">
            <a:avLst>
              <a:gd name="adj" fmla="val 3000"/>
            </a:avLst>
          </a:prstGeom>
          <a:solidFill>
            <a:srgbClr val="111823"/>
          </a:solidFill>
          <a:ln w="12700">
            <a:solidFill>
              <a:srgbClr val="1C253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0" y="1399032"/>
            <a:ext cx="292608" cy="292608"/>
          </a:xfrm>
          <a:prstGeom prst="ellipse">
            <a:avLst/>
          </a:prstGeom>
          <a:solidFill>
            <a:srgbClr val="0E3B34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399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3232" y="1508760"/>
            <a:ext cx="566928" cy="566928"/>
          </a:xfrm>
          <a:prstGeom prst="ellipse">
            <a:avLst/>
          </a:prstGeom>
          <a:solidFill>
            <a:srgbClr val="0D1420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1650492"/>
            <a:ext cx="283464" cy="28346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13232" y="2221992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DB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API Keys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13232" y="2834640"/>
            <a:ext cx="22311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D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tab -&gt; enter Binance Access/Secret Key -&gt; Save -&gt; Test Connection.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D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Futures permission + IP whitelist in Binance API Management.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364992" y="1234440"/>
            <a:ext cx="2743200" cy="3246120"/>
          </a:xfrm>
          <a:prstGeom prst="roundRect">
            <a:avLst>
              <a:gd name="adj" fmla="val 3000"/>
            </a:avLst>
          </a:prstGeom>
          <a:solidFill>
            <a:srgbClr val="111823"/>
          </a:solidFill>
          <a:ln w="12700">
            <a:solidFill>
              <a:srgbClr val="1C253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650992" y="1399032"/>
            <a:ext cx="292608" cy="292608"/>
          </a:xfrm>
          <a:prstGeom prst="ellipse">
            <a:avLst/>
          </a:prstGeom>
          <a:solidFill>
            <a:srgbClr val="0E3B34"/>
          </a:solidFill>
          <a:ln/>
        </p:spPr>
      </p:sp>
      <p:sp>
        <p:nvSpPr>
          <p:cNvPr id="18" name="Text 15"/>
          <p:cNvSpPr/>
          <p:nvPr/>
        </p:nvSpPr>
        <p:spPr>
          <a:xfrm>
            <a:off x="5650992" y="1399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621024" y="1508760"/>
            <a:ext cx="566928" cy="566928"/>
          </a:xfrm>
          <a:prstGeom prst="ellipse">
            <a:avLst/>
          </a:prstGeom>
          <a:solidFill>
            <a:srgbClr val="0D142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756" y="1650492"/>
            <a:ext cx="283464" cy="28346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1024" y="2221992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DB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Shadow Mode First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3621024" y="2834640"/>
            <a:ext cx="22311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D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Shadow Mode in the sidebar -&gt; simulate live trading with real market data, zero real orders.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D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live only after verifying.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272784" y="1234440"/>
            <a:ext cx="2743200" cy="3246120"/>
          </a:xfrm>
          <a:prstGeom prst="roundRect">
            <a:avLst>
              <a:gd name="adj" fmla="val 3000"/>
            </a:avLst>
          </a:prstGeom>
          <a:solidFill>
            <a:srgbClr val="111823"/>
          </a:solidFill>
          <a:ln w="12700">
            <a:solidFill>
              <a:srgbClr val="1C253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558784" y="1399032"/>
            <a:ext cx="292608" cy="292608"/>
          </a:xfrm>
          <a:prstGeom prst="ellipse">
            <a:avLst/>
          </a:prstGeom>
          <a:solidFill>
            <a:srgbClr val="0E3B34"/>
          </a:solidFill>
          <a:ln/>
        </p:spPr>
      </p:sp>
      <p:sp>
        <p:nvSpPr>
          <p:cNvPr id="25" name="Text 21"/>
          <p:cNvSpPr/>
          <p:nvPr/>
        </p:nvSpPr>
        <p:spPr>
          <a:xfrm>
            <a:off x="8558784" y="1399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6528816" y="1508760"/>
            <a:ext cx="566928" cy="566928"/>
          </a:xfrm>
          <a:prstGeom prst="ellipse">
            <a:avLst/>
          </a:prstGeom>
          <a:solidFill>
            <a:srgbClr val="0D1420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548" y="1650492"/>
            <a:ext cx="283464" cy="28346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528816" y="2221992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DB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Coins + Load Candles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6528816" y="2834640"/>
            <a:ext cx="22311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D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Selection tab -&gt; pick coins (or "Top 20 by Volume") -&gt; Save Selection -&gt; wait for candle loading to finish.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9180576" y="1234440"/>
            <a:ext cx="2743200" cy="3246120"/>
          </a:xfrm>
          <a:prstGeom prst="roundRect">
            <a:avLst>
              <a:gd name="adj" fmla="val 3000"/>
            </a:avLst>
          </a:prstGeom>
          <a:solidFill>
            <a:srgbClr val="111823"/>
          </a:solidFill>
          <a:ln w="12700">
            <a:solidFill>
              <a:srgbClr val="1C253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11466576" y="1399032"/>
            <a:ext cx="292608" cy="292608"/>
          </a:xfrm>
          <a:prstGeom prst="ellipse">
            <a:avLst/>
          </a:prstGeom>
          <a:solidFill>
            <a:srgbClr val="0E3B34"/>
          </a:solidFill>
          <a:ln/>
        </p:spPr>
      </p:sp>
      <p:sp>
        <p:nvSpPr>
          <p:cNvPr id="32" name="Text 27"/>
          <p:cNvSpPr/>
          <p:nvPr/>
        </p:nvSpPr>
        <p:spPr>
          <a:xfrm>
            <a:off x="11466576" y="1399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9436608" y="1508760"/>
            <a:ext cx="566928" cy="566928"/>
          </a:xfrm>
          <a:prstGeom prst="ellipse">
            <a:avLst/>
          </a:prstGeom>
          <a:solidFill>
            <a:srgbClr val="0D1420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8340" y="1650492"/>
            <a:ext cx="283464" cy="28346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436608" y="2221992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DB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Trading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9436608" y="2834640"/>
            <a:ext cx="22311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D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Start Trading in the sidebar. Live trades require approving the leverage/margin confirmation modal first.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457200" y="4709160"/>
            <a:ext cx="11247120" cy="1600200"/>
          </a:xfrm>
          <a:prstGeom prst="roundRect">
            <a:avLst>
              <a:gd name="adj" fmla="val 5143"/>
            </a:avLst>
          </a:prstGeom>
          <a:solidFill>
            <a:srgbClr val="3A1E12"/>
          </a:solidFill>
          <a:ln w="12700">
            <a:solidFill>
              <a:srgbClr val="6B3A1A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76656" y="4928616"/>
            <a:ext cx="457200" cy="457200"/>
          </a:xfrm>
          <a:prstGeom prst="ellipse">
            <a:avLst/>
          </a:prstGeom>
          <a:solidFill>
            <a:srgbClr val="4A2712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526" y="5031486"/>
            <a:ext cx="251460" cy="25146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1325880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 Live, Please Check</a:t>
            </a:r>
            <a:endParaRPr lang="en-US" sz="1450" dirty="0"/>
          </a:p>
        </p:txBody>
      </p:sp>
      <p:sp>
        <p:nvSpPr>
          <p:cNvPr id="41" name="Text 34"/>
          <p:cNvSpPr/>
          <p:nvPr/>
        </p:nvSpPr>
        <p:spPr>
          <a:xfrm>
            <a:off x="1325880" y="527608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8C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leverage is 10x / cross (CROSSED) margin -- losses can grow quickly.</a:t>
            </a:r>
            <a:endParaRPr lang="en-US" sz="1150" dirty="0"/>
          </a:p>
          <a:p>
            <a:pPr marL="342900" indent="-342900">
              <a:lnSpc>
                <a:spcPct val="122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8C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confirmation modal summarizing leverage and margin must be approved before live trading starts.</a:t>
            </a:r>
            <a:endParaRPr lang="en-US" sz="1150" dirty="0"/>
          </a:p>
          <a:p>
            <a:pPr marL="342900" indent="-342900">
              <a:lnSpc>
                <a:spcPct val="122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8C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run multiple bots on the same Binance account at once -- a separate sub-account is recommended.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JaviD Future Bot V18.0 - Quick Start Guide</dc:title>
  <dc:subject>PptxGenJS Presentation</dc:subject>
  <dc:creator>PptxGenJS</dc:creator>
  <cp:lastModifiedBy>PptxGenJS</cp:lastModifiedBy>
  <cp:revision>1</cp:revision>
  <dcterms:created xsi:type="dcterms:W3CDTF">2026-07-03T05:01:35Z</dcterms:created>
  <dcterms:modified xsi:type="dcterms:W3CDTF">2026-07-03T05:01:35Z</dcterms:modified>
</cp:coreProperties>
</file>